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Helvetica" panose="020B0604020202020204" pitchFamily="34" charset="0"/>
      <p:regular r:id="rId20"/>
      <p:bold r:id="rId21"/>
      <p:italic r:id="rId22"/>
      <p:boldItalic r:id="rId23"/>
    </p:embeddedFont>
    <p:embeddedFont>
      <p:font typeface="Nunito" pitchFamily="2" charset="0"/>
      <p:regular r:id="rId24"/>
      <p:bold r:id="rId25"/>
      <p:italic r:id="rId26"/>
      <p:boldItalic r:id="rId27"/>
    </p:embeddedFont>
    <p:embeddedFont>
      <p:font typeface="Playfair Display" panose="000005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2547C-9DF4-16B2-6C93-A550734CB801}" v="130" dt="2025-11-27T20:22:06.759"/>
    <p1510:client id="{7B5531C3-D263-AA0F-4F63-C7153CDB9FA3}" v="10" dt="2025-11-27T21:28:26.776"/>
    <p1510:client id="{A2A8E186-4B0B-3910-1D6E-F42EE11E10D0}" v="285" dt="2025-11-27T20:37:19.322"/>
    <p1510:client id="{BA7B6F2C-34C0-1848-C7F7-9978FEDC615A}" v="158" dt="2025-11-27T20:41:18.194"/>
  </p1510:revLst>
</p1510:revInfo>
</file>

<file path=ppt/tableStyles.xml><?xml version="1.0" encoding="utf-8"?>
<a:tblStyleLst xmlns:a="http://schemas.openxmlformats.org/drawingml/2006/main" def="{111B9A50-DEFC-4F0D-99D2-534B9008DB70}">
  <a:tblStyle styleId="{111B9A50-DEFC-4F0D-99D2-534B9008DB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t24aaq/Project-Breast-Tumor-Classification-Using-Histopathological-Imag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45418" y="2023169"/>
            <a:ext cx="9301162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Breast Tumor Classification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Using Histopathological Images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66875" y="3592710"/>
            <a:ext cx="88582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D174D"/>
                </a:solidFill>
                <a:latin typeface="Nunito"/>
                <a:ea typeface="Nunito"/>
                <a:cs typeface="Nunito"/>
                <a:sym typeface="Nunito"/>
              </a:rPr>
              <a:t>Analysis of the BreakHis Dataset using Deep Learning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666875" y="4339381"/>
            <a:ext cx="88584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Student Name : Sriharshini </a:t>
            </a:r>
            <a:r>
              <a:rPr lang="en-US" sz="1500" err="1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Thatiparthi</a:t>
            </a:r>
            <a:endParaRPr lang="en-US">
              <a:latin typeface="Nunito"/>
              <a:ea typeface="Nunito"/>
            </a:endParaRPr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374151"/>
                </a:solidFill>
                <a:latin typeface="Nunito"/>
              </a:rPr>
              <a:t>Student ID: 23070133</a:t>
            </a:r>
          </a:p>
          <a:p>
            <a:pPr algn="ctr">
              <a:lnSpc>
                <a:spcPct val="160000"/>
              </a:lnSpc>
            </a:pPr>
            <a:r>
              <a:rPr lang="en-US" sz="1500" dirty="0" err="1">
                <a:solidFill>
                  <a:srgbClr val="374151"/>
                </a:solidFill>
                <a:latin typeface="Nunito"/>
              </a:rPr>
              <a:t>Github</a:t>
            </a:r>
            <a:r>
              <a:rPr lang="en-US" sz="1500" dirty="0">
                <a:solidFill>
                  <a:srgbClr val="374151"/>
                </a:solidFill>
                <a:latin typeface="Nunito"/>
              </a:rPr>
              <a:t> Link: </a:t>
            </a:r>
            <a:r>
              <a:rPr lang="en-US" sz="1500" dirty="0">
                <a:solidFill>
                  <a:srgbClr val="374151"/>
                </a:solidFill>
                <a:latin typeface="Nunito"/>
                <a:hlinkClick r:id="rId4"/>
              </a:rPr>
              <a:t>https://github.com/st24aaq/Project-Breast-Tumor-Classification-Using-Histopathological-Images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76225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Breast cancer (BC) is a highly diverse disease with various tumor types exhibiting different behaviors. Traditional classification relies on histological type and grade (e.g., Nottingham grading system).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1719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However, conventional methods can be subjective. There is an urgent need for precise, automated diagnostic methods to support personalized treatment.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276850"/>
            <a:ext cx="5238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(Rakha, Tse and Quinn, 2023)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2275325"/>
            <a:ext cx="5238750" cy="34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6202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Limitations of Current Methods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25527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Traditional histopathological examination is the gold standard but is labor-intensive, time-consuming, and subjective. Interpretation can vary significantly between pathologists.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62025" y="3962400"/>
            <a:ext cx="4457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(Rakha, Tse and Quinn, 2023)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77227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AI Challenge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772275" y="2552700"/>
            <a:ext cx="44577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While CNNs offer automation, they face challenges with model generalization across magnifications. Furthermore, "black box" models lack transparency, necessitating Explainable AI (XAI) for clinical acceptance.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9337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9337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9337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6146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1527601" y="3262312"/>
            <a:ext cx="15801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Primary Objective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36909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Create and train a CNN model to accurately classify benign vs. malignant breast tumor images using the BreakHis dataset.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6146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470921" y="3262312"/>
            <a:ext cx="12501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Question 1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645074" y="36909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How effectively do CNNs classify tumor tissues, and what is the variation in performance across different magnifications (200x vs 400x)?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6146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234219" y="3262312"/>
            <a:ext cx="128016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Question 2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423374" y="369093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Which visual characteristics influence classification, and can XAI methods like Grad-CAM provide interpretability?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Objectives &amp; Research Questions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6202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Golatkar et al. (2018)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2552700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Addressed uninformative regions in H&amp;E images. Used Inception-v3 CNN with transfer learning on nuclei-dense patches. Achieved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85%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image-wise accuracy.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962400"/>
            <a:ext cx="4457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(Golatkar, Anand and Sethi, 2018)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7227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Jannesari et al. (2019)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72275" y="25527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Focused on multi-classification of cancer subtypes. ResNet models outperformed Inception, achieving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98.7%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accuracy for benign/malignant classification.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72275" y="3657600"/>
            <a:ext cx="4457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(Jannesari et al., 2019)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Review: Deep Learning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96202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Amrane et al. (2018)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62025" y="25527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Compared classical classifiers on the Wisconsin dataset. KNN (k=3) achieved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97.51%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accuracy, slightly outperforming Naïve Bayes (96.19%).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3657600"/>
            <a:ext cx="4457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(Amrane et al., 2018)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772275" y="2124075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Assiri et al. (2020)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772275" y="2552700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Proposed an ensemble method (Majority Voting of SLR, SVM, MLP) prioritizing the F3 score. Achieved a record high accuracy of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99.42%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772275" y="3657600"/>
            <a:ext cx="4457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(Assiri, Nazir and Velastin, 2020)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Literature Review: ML Approaches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19"/>
          <p:cNvGraphicFramePr/>
          <p:nvPr/>
        </p:nvGraphicFramePr>
        <p:xfrm>
          <a:off x="571500" y="1343025"/>
          <a:ext cx="11049025" cy="5182025"/>
        </p:xfrm>
        <a:graphic>
          <a:graphicData uri="http://schemas.openxmlformats.org/drawingml/2006/table">
            <a:tbl>
              <a:tblPr firstRow="1" bandRow="1">
                <a:noFill/>
                <a:tableStyleId>{111B9A50-DEFC-4F0D-99D2-534B9008DB70}</a:tableStyleId>
              </a:tblPr>
              <a:tblGrid>
                <a:gridCol w="167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38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Study 01 (Golatkar et al., 2018)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Study 02 (Jannesari et al., 2019)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Study 03 (Amrane et al., 2018)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Study 04 (Assiri, Nazir, and Velastin, 2020)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Datasets Used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BACH Challenge Dataset (H&amp;E stained)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TMA and BreaKHis datasets (multiple cancer types and magnifications)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Wisconsin Breast Cancer Dataset (WBCD) (683 samples)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Wisconsin Breast Cancer Dataset (WBCD) (569 instances)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Classification Task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4-Class (Normal, Benign, in situ, Invasive) &amp; 2-Class (Non-cancer vs. 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 Sub-types (4 benign, 4 malignant) &amp; 4 General Cancer Types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Binary (Benign/Malignant)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Binary (Benign/Malignant)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Core Models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Modified Inception-v3 CNN with Transfer Learning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ResNet (V1 50, 101, 152) and Inception (V1-V4)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k-Nearest Neighbor (KNN) (k=3) and Naïve Bayes (NB)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Ensemble (Majority Voting of SLR, SVM-SGD, MLP)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Best Accuracy Achieved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85% (4-class image-level) 93% (2-class)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99.8% (4 General Cancer Types, ResNet V1 50) 98.7% (Benign/Malignant, ResNet V1 152)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97.51% (KNN)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99.42% (Majority-based voting ensemble)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" name="Google Shape;170;p19"/>
          <p:cNvSpPr/>
          <p:nvPr/>
        </p:nvSpPr>
        <p:spPr>
          <a:xfrm>
            <a:off x="571500" y="3738562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245518" y="37385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589115" y="37385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932711" y="37385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9276308" y="3738562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71500" y="5557837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245518" y="55578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589115" y="55578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932711" y="55578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9276308" y="5557837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7072312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2245518" y="70723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589115" y="70723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932711" y="70723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9276308" y="7072312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8891587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245518" y="889158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589115" y="889158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932711" y="889158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9276308" y="8891587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71500" y="10101262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245518" y="101012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4589115" y="101012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932711" y="1010126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276308" y="10101262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71500" y="12225337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245518" y="122253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589115" y="122253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932711" y="12225337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9276308" y="12225337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14044612"/>
            <a:ext cx="1674018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245518" y="140446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4589115" y="140446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932711" y="14044612"/>
            <a:ext cx="2343596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9276308" y="14044612"/>
            <a:ext cx="234419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-9525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Comparative Analysis of Literature (Table 2.1)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571500" y="742950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3550"/>
            <a:ext cx="523875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666750" y="296227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62000" y="29622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Source: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Instituto Federal de Educação, Brazil.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66750" y="340995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62000" y="34099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Input: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RGB Microscopic images (224 x 224 pixels).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66750" y="385762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62000" y="38576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Magnifications: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40x, 100x, 200x, and 400x.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66750" y="430530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4305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Labels: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Binary classification (Benign / Malignant).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" y="4752975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47529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Content: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Derived from breast tumor tissue slides.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BreakHis Dataset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81750" y="2324100"/>
            <a:ext cx="5238750" cy="34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11049000" cy="455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48006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The dataset shows a class imbalance with significantly more Malignant samples than Benign samples across both magnifications.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Distribution by Class &amp; Magnification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4143375" y="5572150"/>
            <a:ext cx="390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Total Images: 3,833 (Combined 200x &amp; 400x)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015162" y="3198465"/>
            <a:ext cx="2066925" cy="278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Malignant (68%)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015162" y="3707010"/>
            <a:ext cx="2066925" cy="278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Benign (32%)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Total Class Distribution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588" y="1681163"/>
            <a:ext cx="5229225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8078171" y="3177591"/>
            <a:ext cx="1489471" cy="3649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6381750" y="1213544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Count Summary by Magnification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375007" y="5606845"/>
            <a:ext cx="524549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Nunito"/>
                <a:ea typeface="Nunito"/>
                <a:cs typeface="Nunito"/>
                <a:sym typeface="Nunito"/>
              </a:rPr>
              <a:t>The most challenging subset (200x) was selected for initial model training due to its higher total sample count.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381750" y="4209157"/>
            <a:ext cx="222914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10100369" y="3009007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610897" y="3609082"/>
            <a:ext cx="148947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10100369" y="3609082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8610897" y="4209157"/>
            <a:ext cx="148947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10100369" y="4209157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381750" y="6009382"/>
            <a:ext cx="2229147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610897" y="4809232"/>
            <a:ext cx="148947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0100369" y="4809232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8610897" y="5409307"/>
            <a:ext cx="148947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10100369" y="5409307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8610897" y="6009382"/>
            <a:ext cx="1489471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10100369" y="6009382"/>
            <a:ext cx="1520130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571500" y="-172075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 Samples &amp; Summary (Table 3.1)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571500" y="-9682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820" y="1451671"/>
            <a:ext cx="4380151" cy="382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1666650" y="5616850"/>
            <a:ext cx="3334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Sample Images after magnification</a:t>
            </a: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C12F33-4CCD-1438-D849-84E829A6C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139721"/>
              </p:ext>
            </p:extLst>
          </p:nvPr>
        </p:nvGraphicFramePr>
        <p:xfrm>
          <a:off x="6507345" y="1753274"/>
          <a:ext cx="4625836" cy="3484036"/>
        </p:xfrm>
        <a:graphic>
          <a:graphicData uri="http://schemas.openxmlformats.org/drawingml/2006/table">
            <a:tbl>
              <a:tblPr bandRow="1">
                <a:tableStyleId>{111B9A50-DEFC-4F0D-99D2-534B9008DB70}</a:tableStyleId>
              </a:tblPr>
              <a:tblGrid>
                <a:gridCol w="1987482">
                  <a:extLst>
                    <a:ext uri="{9D8B030D-6E8A-4147-A177-3AD203B41FA5}">
                      <a16:colId xmlns:a16="http://schemas.microsoft.com/office/drawing/2014/main" val="448506836"/>
                    </a:ext>
                  </a:extLst>
                </a:gridCol>
                <a:gridCol w="1301743">
                  <a:extLst>
                    <a:ext uri="{9D8B030D-6E8A-4147-A177-3AD203B41FA5}">
                      <a16:colId xmlns:a16="http://schemas.microsoft.com/office/drawing/2014/main" val="1200094730"/>
                    </a:ext>
                  </a:extLst>
                </a:gridCol>
                <a:gridCol w="1336611">
                  <a:extLst>
                    <a:ext uri="{9D8B030D-6E8A-4147-A177-3AD203B41FA5}">
                      <a16:colId xmlns:a16="http://schemas.microsoft.com/office/drawing/2014/main" val="528226344"/>
                    </a:ext>
                  </a:extLst>
                </a:gridCol>
              </a:tblGrid>
              <a:tr h="501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rgbClr val="6E0A34"/>
                          </a:solidFill>
                          <a:effectLst/>
                          <a:latin typeface="Helvetica"/>
                        </a:rPr>
                        <a:t>Magnification Factor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 err="1">
                          <a:solidFill>
                            <a:srgbClr val="6E0A34"/>
                          </a:solidFill>
                          <a:effectLst/>
                          <a:latin typeface="Helvetica"/>
                        </a:rPr>
                        <a:t>Tumor</a:t>
                      </a:r>
                      <a:r>
                        <a:rPr lang="en-GB" b="1" dirty="0">
                          <a:solidFill>
                            <a:srgbClr val="6E0A34"/>
                          </a:solidFill>
                          <a:effectLst/>
                          <a:latin typeface="Helvetica"/>
                        </a:rPr>
                        <a:t> Class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rgbClr val="6E0A34"/>
                          </a:solidFill>
                          <a:effectLst/>
                          <a:latin typeface="Helvetica"/>
                        </a:rPr>
                        <a:t>Image Count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44236"/>
                  </a:ext>
                </a:extLst>
              </a:tr>
              <a:tr h="43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200×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Benign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623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08347"/>
                  </a:ext>
                </a:extLst>
              </a:tr>
              <a:tr h="53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Malignant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1,390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GB" dirty="0">
                          <a:effectLst/>
                          <a:latin typeface="Helvetica"/>
                        </a:rPr>
                      </a:b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887635"/>
                  </a:ext>
                </a:extLst>
              </a:tr>
              <a:tr h="53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Total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2,013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GB" dirty="0">
                          <a:effectLst/>
                          <a:latin typeface="Helvetica"/>
                        </a:rPr>
                      </a:b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741174"/>
                  </a:ext>
                </a:extLst>
              </a:tr>
              <a:tr h="430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400×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Benign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588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427265"/>
                  </a:ext>
                </a:extLst>
              </a:tr>
              <a:tr h="53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Malignant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1,232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GB" dirty="0">
                          <a:effectLst/>
                          <a:latin typeface="Helvetica"/>
                        </a:rPr>
                      </a:b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D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472034"/>
                  </a:ext>
                </a:extLst>
              </a:tr>
              <a:tr h="530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Total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2A3140"/>
                          </a:solidFill>
                          <a:effectLst/>
                          <a:latin typeface="Helvetica"/>
                        </a:rPr>
                        <a:t>1,820</a:t>
                      </a: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19050" marR="19050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GB" dirty="0">
                          <a:effectLst/>
                          <a:latin typeface="Helvetica"/>
                        </a:rPr>
                      </a:br>
                      <a:endParaRPr lang="en-GB" dirty="0">
                        <a:effectLst/>
                        <a:latin typeface="Helvetica"/>
                      </a:endParaRPr>
                    </a:p>
                  </a:txBody>
                  <a:tcPr marL="34290" marR="34290" marT="34290" marB="3429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7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3139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71500" y="2224087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Transfer Learning with CNNs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381750" y="192881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Preparation &amp; Training (200X)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666750" y="2614612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762000" y="2614612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Base Models: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VGG16, ResNet50, and EfficientNetB0 (ImageNet pre-trained) were used as feature extractors.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66750" y="336708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62000" y="3367087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Strategy: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Weights of the pre-trained layers were frozen. A new classification head (Global Average Pooling, Dense layer, Dropout) was added.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66750" y="4424362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762000" y="4424362"/>
            <a:ext cx="5048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Why Transfer Learning?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To leverage vast knowledge learned from natural images (ImageNet) and apply it to the medical domain (histopathology), mitigating the risk of overfitting due to limited medical data.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477000" y="231933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572250" y="2319337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Magnification Focus: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Initial training focused on the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200X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subset (2,013 images).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477000" y="4313162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572250" y="4313162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Training:</a:t>
            </a:r>
            <a:r>
              <a:rPr lang="en-US" sz="1500" b="1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All models were trained for 10 epochs using the Adam optimizer.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6648450" y="297013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○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762750" y="30787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Rotation (up to 25 degrees)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6648450" y="34178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○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6762750" y="3417812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Shifts, Shears, Zooms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6648450" y="3865487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○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762750" y="3865487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Horizontal Flipping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 &amp; Approach</a:t>
            </a: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4095750" y="1128712"/>
            <a:ext cx="420052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Performance Comparison (Validation Set)</a:t>
            </a:r>
            <a:endParaRPr/>
          </a:p>
        </p:txBody>
      </p:sp>
      <p:graphicFrame>
        <p:nvGraphicFramePr>
          <p:cNvPr id="305" name="Google Shape;305;p25"/>
          <p:cNvGraphicFramePr/>
          <p:nvPr/>
        </p:nvGraphicFramePr>
        <p:xfrm>
          <a:off x="2633663" y="1633550"/>
          <a:ext cx="6924675" cy="2714600"/>
        </p:xfrm>
        <a:graphic>
          <a:graphicData uri="http://schemas.openxmlformats.org/drawingml/2006/table">
            <a:tbl>
              <a:tblPr firstRow="1" bandRow="1">
                <a:noFill/>
                <a:tableStyleId>{111B9A50-DEFC-4F0D-99D2-534B9008DB70}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Accuracy (Validation)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Precision (Malignant)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Recall (Malignant)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8318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F1-Score (Malignant)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VGG16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67.66%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0.6953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0.9604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0.8066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ResNet50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69.15%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0.6915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0.8176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EfficientNetB0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69.15%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0.6915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1.0000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37415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0.8176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6" name="Google Shape;306;p25"/>
          <p:cNvSpPr txBox="1"/>
          <p:nvPr/>
        </p:nvSpPr>
        <p:spPr>
          <a:xfrm>
            <a:off x="571500" y="4348162"/>
            <a:ext cx="11601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Findings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66825" y="4614887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762000" y="4614887"/>
            <a:ext cx="10858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High Recall (100% for ResNet &amp; EfficientNet)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: The models successfully identified all true Malignant (cancerous) cases in the validation set. This is crucial in medical diagnostics to minimize False Negatives.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66825" y="5310212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762000" y="5296025"/>
            <a:ext cx="10858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Accuracy: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All models achieved an accuracy of approximately 67% - 69%, indicating challenges in separating Benign images (class imbalance likely leads to bias towards the larger Malignant class).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66900" y="6079337"/>
            <a:ext cx="9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762000" y="6079325"/>
            <a:ext cx="10858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Precision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: The models struggled with precision for the benign class, leading to a higher number of False Positives (classifying benign as malignant).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395213" y="165013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Experimental Results 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71500" y="719137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1123950" y="5181600"/>
            <a:ext cx="9944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Insight:</a:t>
            </a:r>
            <a:r>
              <a:rPr lang="en-US" sz="1500" b="0" i="1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The "Confusion Matrix" reveals a strong bias towards the majority class (Malignant). ResNet50 defaulted to predicting 'Malignant' for nearly all samples, achieving 100% recall but 0 specificity. VGG16 attempted to distinguish classes but suffered from many False Positives.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Detailed Performance: Confusion Matrix Analysis</a:t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" name="Google Shape;3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050" y="1666875"/>
            <a:ext cx="2868475" cy="262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2525" y="1504950"/>
            <a:ext cx="3143193" cy="278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6450" y="1504950"/>
            <a:ext cx="2960255" cy="262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89808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89808"/>
            <a:ext cx="3492549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89808"/>
            <a:ext cx="3492549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2286000" y="187746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D174D"/>
                </a:solidFill>
                <a:latin typeface="Nunito"/>
                <a:ea typeface="Nunito"/>
                <a:cs typeface="Nunito"/>
                <a:sym typeface="Nunito"/>
              </a:rPr>
              <a:t>The immediate next steps will focus on addressing the remaining research questions to ensure a robust and interpretable diagnostic tool.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1387584" y="3932783"/>
            <a:ext cx="186023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Explainability (XAI)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866775" y="43614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Deploying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Grad-CAM and LIME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to uncover which visual features (texture, shape, pattern) most significantly influence the model's classification.</a:t>
            </a:r>
            <a:endParaRPr/>
          </a:p>
        </p:txBody>
      </p:sp>
      <p:pic>
        <p:nvPicPr>
          <p:cNvPr id="337" name="Google Shape;337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328508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5020865" y="3932783"/>
            <a:ext cx="215026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Magnification Analysis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4645074" y="43614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Evaluating variation in performance at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400x magnification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and testing the models' ability to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generalize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across different zoom levels.</a:t>
            </a:r>
            <a:endParaRPr/>
          </a:p>
        </p:txBody>
      </p:sp>
      <p:pic>
        <p:nvPicPr>
          <p:cNvPr id="340" name="Google Shape;340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8549" y="3285083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7"/>
          <p:cNvSpPr txBox="1"/>
          <p:nvPr/>
        </p:nvSpPr>
        <p:spPr>
          <a:xfrm>
            <a:off x="8734157" y="3932783"/>
            <a:ext cx="228028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Probability Comparison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8423374" y="4361408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Conducting a deep dive into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expected vs. actual class probabilities</a:t>
            </a: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 to rigorously validate the classification effectiveness.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571500" y="486816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Comes Next?</a:t>
            </a:r>
            <a:endParaRPr/>
          </a:p>
        </p:txBody>
      </p:sp>
      <p:sp>
        <p:nvSpPr>
          <p:cNvPr id="344" name="Google Shape;344;p27"/>
          <p:cNvSpPr/>
          <p:nvPr/>
        </p:nvSpPr>
        <p:spPr>
          <a:xfrm>
            <a:off x="571500" y="1239291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/>
          <p:nvPr/>
        </p:nvSpPr>
        <p:spPr>
          <a:xfrm>
            <a:off x="666750" y="265747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666750" y="34099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8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References</a:t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>
            <a:off x="571500" y="1323975"/>
            <a:ext cx="11049000" cy="28575"/>
          </a:xfrm>
          <a:prstGeom prst="rect">
            <a:avLst/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994900" y="1827000"/>
            <a:ext cx="10419300" cy="5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Amrane, M. </a:t>
            </a:r>
            <a:r>
              <a:rPr lang="en-US" sz="1100" i="1">
                <a:solidFill>
                  <a:schemeClr val="dk1"/>
                </a:solidFill>
              </a:rPr>
              <a:t>et al.</a:t>
            </a:r>
            <a:r>
              <a:rPr lang="en-US" sz="1100">
                <a:solidFill>
                  <a:schemeClr val="dk1"/>
                </a:solidFill>
              </a:rPr>
              <a:t> (2018) “Breast cancer classification using machine learning,” </a:t>
            </a:r>
            <a:r>
              <a:rPr lang="en-US" sz="1100" i="1">
                <a:solidFill>
                  <a:schemeClr val="dk1"/>
                </a:solidFill>
              </a:rPr>
              <a:t>2018 Electric Electronics, Computer Science, Biomedical Engineerings’ Meeting, EBBT 2018</a:t>
            </a:r>
            <a:r>
              <a:rPr lang="en-US" sz="1100">
                <a:solidFill>
                  <a:schemeClr val="dk1"/>
                </a:solidFill>
              </a:rPr>
              <a:t>, pp. 1–4. Available at: https://doi.org/10.1109/EBBT.2018.8391453.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Assiri, A.S., Nazir, S. and Velastin, S.A. (2020) “Breast Tumor Classification Using an Ensemble Machine Learning Method,” </a:t>
            </a:r>
            <a:r>
              <a:rPr lang="en-US" sz="1100" i="1">
                <a:solidFill>
                  <a:schemeClr val="dk1"/>
                </a:solidFill>
              </a:rPr>
              <a:t>Journal of Imaging</a:t>
            </a:r>
            <a:r>
              <a:rPr lang="en-US" sz="1100">
                <a:solidFill>
                  <a:schemeClr val="dk1"/>
                </a:solidFill>
              </a:rPr>
              <a:t>, 6(6). Available at: https://doi.org/10.3390/JIMAGING6060039.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Dai, X. </a:t>
            </a:r>
            <a:r>
              <a:rPr lang="en-US" sz="1100" i="1">
                <a:solidFill>
                  <a:schemeClr val="dk1"/>
                </a:solidFill>
              </a:rPr>
              <a:t>et al.</a:t>
            </a:r>
            <a:r>
              <a:rPr lang="en-US" sz="1100">
                <a:solidFill>
                  <a:schemeClr val="dk1"/>
                </a:solidFill>
              </a:rPr>
              <a:t> (2017) “Breast cancer cell line classification and Its relevance with breast tumor subtyping,” </a:t>
            </a:r>
            <a:r>
              <a:rPr lang="en-US" sz="1100" i="1">
                <a:solidFill>
                  <a:schemeClr val="dk1"/>
                </a:solidFill>
              </a:rPr>
              <a:t>Journal of Cancer</a:t>
            </a:r>
            <a:r>
              <a:rPr lang="en-US" sz="1100">
                <a:solidFill>
                  <a:schemeClr val="dk1"/>
                </a:solidFill>
              </a:rPr>
              <a:t>, 8(16), pp. 3131–3141. Available at: https://doi.org/10.7150/jca.18457.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Golatkar, A., Anand, D. and Sethi, A. (2018) “Classification of Breast Cancer Histology Using Deep Learning,” </a:t>
            </a:r>
            <a:r>
              <a:rPr lang="en-US" sz="1100" i="1">
                <a:solidFill>
                  <a:schemeClr val="dk1"/>
                </a:solidFill>
              </a:rPr>
              <a:t>Lecture Notes in Computer Science (including subseries Lecture Notes in Artificial Intelligence and Lecture Notes in Bioinformatics)</a:t>
            </a:r>
            <a:r>
              <a:rPr lang="en-US" sz="1100">
                <a:solidFill>
                  <a:schemeClr val="dk1"/>
                </a:solidFill>
              </a:rPr>
              <a:t>, 10882 LNCS, pp. 837–844. Available at: https://doi.org/10.1007/978-3-319-93000-8_95.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Jannesari, M. </a:t>
            </a:r>
            <a:r>
              <a:rPr lang="en-US" sz="1100" i="1">
                <a:solidFill>
                  <a:schemeClr val="dk1"/>
                </a:solidFill>
              </a:rPr>
              <a:t>et al.</a:t>
            </a:r>
            <a:r>
              <a:rPr lang="en-US" sz="1100">
                <a:solidFill>
                  <a:schemeClr val="dk1"/>
                </a:solidFill>
              </a:rPr>
              <a:t> (2019) “Breast Cancer Histopathological Image Classification: A Deep Learning Approach,” </a:t>
            </a:r>
            <a:r>
              <a:rPr lang="en-US" sz="1100" i="1">
                <a:solidFill>
                  <a:schemeClr val="dk1"/>
                </a:solidFill>
              </a:rPr>
              <a:t>Proceedings - 2018 IEEE International Conference on Bioinformatics and Biomedicine, BIBM 2018</a:t>
            </a:r>
            <a:r>
              <a:rPr lang="en-US" sz="1100">
                <a:solidFill>
                  <a:schemeClr val="dk1"/>
                </a:solidFill>
              </a:rPr>
              <a:t>, pp. 2405–2412. Available at: https://doi.org/10.1109/BIBM.2018.8621307.</a:t>
            </a:r>
            <a:endParaRPr sz="1100">
              <a:solidFill>
                <a:schemeClr val="dk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·</a:t>
            </a:r>
            <a:r>
              <a:rPr lang="en-US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100">
                <a:solidFill>
                  <a:schemeClr val="dk1"/>
                </a:solidFill>
              </a:rPr>
              <a:t>Rakha, E.A., Tse, G.M. and Quinn, C.M. (2023) “An update on the pathological classification of breast cancer,” </a:t>
            </a:r>
            <a:r>
              <a:rPr lang="en-US" sz="1100" i="1">
                <a:solidFill>
                  <a:schemeClr val="dk1"/>
                </a:solidFill>
              </a:rPr>
              <a:t>Histopathology</a:t>
            </a:r>
            <a:r>
              <a:rPr lang="en-US" sz="1100">
                <a:solidFill>
                  <a:schemeClr val="dk1"/>
                </a:solidFill>
              </a:rPr>
              <a:t>, 82(1), pp. 5–16. Available at: https://doi.org/10.1111/his.14786.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chemeClr val="dk1"/>
                </a:solidFill>
              </a:rPr>
              <a:t> </a:t>
            </a:r>
            <a:endParaRPr sz="2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 txBox="1"/>
          <p:nvPr/>
        </p:nvSpPr>
        <p:spPr>
          <a:xfrm>
            <a:off x="4030741" y="2185987"/>
            <a:ext cx="4130516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318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4867275" y="3586162"/>
            <a:ext cx="24574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Nunito"/>
                <a:ea typeface="Nunito"/>
                <a:cs typeface="Nunito"/>
                <a:sym typeface="Nunito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81</cp:revision>
  <dcterms:modified xsi:type="dcterms:W3CDTF">2025-11-28T07:20:25Z</dcterms:modified>
</cp:coreProperties>
</file>